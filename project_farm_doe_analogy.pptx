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548872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Aptos"/>
              </a:rPr>
              <a:t>YouTube “Project Farm” ≈ Design of Experiments (DoE)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38912"/>
            <a:ext cx="11548872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i="1">
                <a:solidFill>
                  <a:srgbClr val="FFFFFF"/>
                </a:solidFill>
                <a:latin typeface="Aptos"/>
              </a:rPr>
              <a:t>Same goal. Same approach. Different domain.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" y="877824"/>
            <a:ext cx="11859768" cy="512064"/>
          </a:xfrm>
          <a:prstGeom prst="roundRect">
            <a:avLst>
              <a:gd name="adj" fmla="val 8000"/>
            </a:avLst>
          </a:prstGeom>
          <a:solidFill>
            <a:srgbClr val="E7F3FB"/>
          </a:solidFill>
          <a:ln>
            <a:solidFill>
              <a:srgbClr val="E7F3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14400"/>
            <a:ext cx="11548872" cy="42062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53964"/>
                </a:solidFill>
                <a:latin typeface="Aptos"/>
              </a:rPr>
              <a:t>Project Farm compares real-world products through structured, repeatable tests. DoE applies the same logic with a formal statistical framework.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" y="1517904"/>
            <a:ext cx="3886200" cy="4480560"/>
          </a:xfrm>
          <a:prstGeom prst="roundRect">
            <a:avLst>
              <a:gd name="adj" fmla="val 8000"/>
            </a:avLst>
          </a:prstGeom>
          <a:solidFill>
            <a:srgbClr val="F4F9FC"/>
          </a:solidFill>
          <a:ln>
            <a:solidFill>
              <a:srgbClr val="C7D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60520" y="1517904"/>
            <a:ext cx="3886200" cy="4480560"/>
          </a:xfrm>
          <a:prstGeom prst="roundRect">
            <a:avLst>
              <a:gd name="adj" fmla="val 8000"/>
            </a:avLst>
          </a:prstGeom>
          <a:solidFill>
            <a:srgbClr val="F4F9FC"/>
          </a:solidFill>
          <a:ln>
            <a:solidFill>
              <a:srgbClr val="C7D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29016" y="1517904"/>
            <a:ext cx="3886200" cy="4480560"/>
          </a:xfrm>
          <a:prstGeom prst="roundRect">
            <a:avLst>
              <a:gd name="adj" fmla="val 8000"/>
            </a:avLst>
          </a:prstGeom>
          <a:solidFill>
            <a:srgbClr val="F4F9FC"/>
          </a:solidFill>
          <a:ln>
            <a:solidFill>
              <a:srgbClr val="C7D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64592" y="1517904"/>
            <a:ext cx="3886200" cy="530352"/>
          </a:xfrm>
          <a:prstGeom prst="roundRect">
            <a:avLst>
              <a:gd name="adj" fmla="val 8000"/>
            </a:avLst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545336"/>
            <a:ext cx="3666744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ptos"/>
              </a:rPr>
              <a:t>Project Farm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1792224"/>
            <a:ext cx="3666744" cy="20116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YouTube product-testing channel</a:t>
            </a:r>
          </a:p>
        </p:txBody>
      </p:sp>
      <p:pic>
        <p:nvPicPr>
          <p:cNvPr id="13" name="Picture 12" descr="project_farm_product_photo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112264"/>
            <a:ext cx="3666744" cy="12344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9184" y="3383280"/>
            <a:ext cx="3557016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53964"/>
                </a:solidFill>
                <a:latin typeface="Aptos"/>
              </a:rPr>
              <a:t>What Project Farm Does</a:t>
            </a:r>
          </a:p>
        </p:txBody>
      </p:sp>
      <p:sp>
        <p:nvSpPr>
          <p:cNvPr id="15" name="Oval 14"/>
          <p:cNvSpPr/>
          <p:nvPr/>
        </p:nvSpPr>
        <p:spPr>
          <a:xfrm>
            <a:off x="310896" y="3685032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" y="3680460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3657600"/>
            <a:ext cx="3273552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183A5B"/>
                </a:solidFill>
                <a:latin typeface="Aptos"/>
              </a:rPr>
              <a:t>Selects products to compare (e.g., drills, mowers, tools)</a:t>
            </a:r>
          </a:p>
        </p:txBody>
      </p:sp>
      <p:sp>
        <p:nvSpPr>
          <p:cNvPr id="18" name="Oval 17"/>
          <p:cNvSpPr/>
          <p:nvPr/>
        </p:nvSpPr>
        <p:spPr>
          <a:xfrm>
            <a:off x="310896" y="4105656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" y="4101084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" y="4078224"/>
            <a:ext cx="3273552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183A5B"/>
                </a:solidFill>
                <a:latin typeface="Aptos"/>
              </a:rPr>
              <a:t>Defines performance criteria (power, runtime, speed, durability)</a:t>
            </a:r>
          </a:p>
        </p:txBody>
      </p:sp>
      <p:sp>
        <p:nvSpPr>
          <p:cNvPr id="21" name="Oval 20"/>
          <p:cNvSpPr/>
          <p:nvPr/>
        </p:nvSpPr>
        <p:spPr>
          <a:xfrm>
            <a:off x="310896" y="4526280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521708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" y="4498848"/>
            <a:ext cx="3273552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183A5B"/>
                </a:solidFill>
                <a:latin typeface="Aptos"/>
              </a:rPr>
              <a:t>Tests each product under consistent conditions</a:t>
            </a:r>
          </a:p>
        </p:txBody>
      </p:sp>
      <p:sp>
        <p:nvSpPr>
          <p:cNvPr id="24" name="Oval 23"/>
          <p:cNvSpPr/>
          <p:nvPr/>
        </p:nvSpPr>
        <p:spPr>
          <a:xfrm>
            <a:off x="310896" y="4946904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" y="4942332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919472"/>
            <a:ext cx="3273552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183A5B"/>
                </a:solidFill>
                <a:latin typeface="Aptos"/>
              </a:rPr>
              <a:t>Measures and compares the results</a:t>
            </a:r>
          </a:p>
        </p:txBody>
      </p:sp>
      <p:sp>
        <p:nvSpPr>
          <p:cNvPr id="27" name="Oval 26"/>
          <p:cNvSpPr/>
          <p:nvPr/>
        </p:nvSpPr>
        <p:spPr>
          <a:xfrm>
            <a:off x="310896" y="5367528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0896" y="5362956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" y="5340096"/>
            <a:ext cx="3273552" cy="34747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9" b="0" i="0">
                <a:solidFill>
                  <a:srgbClr val="183A5B"/>
                </a:solidFill>
                <a:latin typeface="Aptos"/>
              </a:rPr>
              <a:t>Ranks options and recommends a winner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60520" y="1517904"/>
            <a:ext cx="3886200" cy="530352"/>
          </a:xfrm>
          <a:prstGeom prst="roundRect">
            <a:avLst>
              <a:gd name="adj" fmla="val 8000"/>
            </a:avLst>
          </a:prstGeom>
          <a:solidFill>
            <a:srgbClr val="D8E9F5"/>
          </a:solidFill>
          <a:ln>
            <a:solidFill>
              <a:srgbClr val="D8E9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51959" y="1572768"/>
            <a:ext cx="370332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53964"/>
                </a:solidFill>
                <a:latin typeface="Aptos"/>
              </a:rPr>
              <a:t>The Analogy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70248" y="2167128"/>
            <a:ext cx="3666744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7D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61688" y="2212848"/>
            <a:ext cx="11887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53964"/>
                </a:solidFill>
                <a:latin typeface="Aptos"/>
              </a:rPr>
              <a:t>PRODUCTS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86983" y="2194560"/>
            <a:ext cx="36576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85B91"/>
                </a:solidFill>
                <a:latin typeface="Aptos"/>
              </a:rPr>
              <a:t>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71031" y="2212848"/>
            <a:ext cx="178308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53964"/>
                </a:solidFill>
                <a:latin typeface="Aptos"/>
              </a:rPr>
              <a:t>FACTORS / VARIABLES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400" y="2459736"/>
            <a:ext cx="352044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 i="0">
                <a:solidFill>
                  <a:srgbClr val="4D677F"/>
                </a:solidFill>
                <a:latin typeface="Aptos"/>
              </a:rPr>
              <a:t>Products chosen to compare ↔ Factors deliberately varied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70248" y="2880360"/>
            <a:ext cx="3666744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7D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61688" y="2926080"/>
            <a:ext cx="11887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53964"/>
                </a:solidFill>
                <a:latin typeface="Aptos"/>
              </a:rPr>
              <a:t>CRITERIA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86983" y="2907792"/>
            <a:ext cx="36576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85B91"/>
                </a:solidFill>
                <a:latin typeface="Aptos"/>
              </a:rPr>
              <a:t>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71031" y="2926080"/>
            <a:ext cx="178308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53964"/>
                </a:solidFill>
                <a:latin typeface="Aptos"/>
              </a:rPr>
              <a:t>RESPONSES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43400" y="3172968"/>
            <a:ext cx="352044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 i="0">
                <a:solidFill>
                  <a:srgbClr val="4D677F"/>
                </a:solidFill>
                <a:latin typeface="Aptos"/>
              </a:rPr>
              <a:t>Power, runtime, durability ↔ Measured performance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70248" y="3593592"/>
            <a:ext cx="3666744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7D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61688" y="3639312"/>
            <a:ext cx="11887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53964"/>
                </a:solidFill>
                <a:latin typeface="Aptos"/>
              </a:rPr>
              <a:t>TEST CONDITIONS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86983" y="3621024"/>
            <a:ext cx="36576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85B91"/>
                </a:solidFill>
                <a:latin typeface="Aptos"/>
              </a:rPr>
              <a:t>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71031" y="3639312"/>
            <a:ext cx="178308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53964"/>
                </a:solidFill>
                <a:latin typeface="Aptos"/>
              </a:rPr>
              <a:t>EXPERIMENTAL DESIGN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3886200"/>
            <a:ext cx="352044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 i="0">
                <a:solidFill>
                  <a:srgbClr val="4D677F"/>
                </a:solidFill>
                <a:latin typeface="Aptos"/>
              </a:rPr>
              <a:t>Repeatable procedures ↔ Controlled runs and test matrix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270248" y="4306824"/>
            <a:ext cx="3666744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7D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61688" y="4352544"/>
            <a:ext cx="11887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53964"/>
                </a:solidFill>
                <a:latin typeface="Aptos"/>
              </a:rPr>
              <a:t>RESULTS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6983" y="4334256"/>
            <a:ext cx="36576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85B91"/>
                </a:solidFill>
                <a:latin typeface="Aptos"/>
              </a:rPr>
              <a:t>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71031" y="4352544"/>
            <a:ext cx="178308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53964"/>
                </a:solidFill>
                <a:latin typeface="Aptos"/>
              </a:rPr>
              <a:t>DATA ANALYSIS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43400" y="4599432"/>
            <a:ext cx="352044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 i="0">
                <a:solidFill>
                  <a:srgbClr val="4D677F"/>
                </a:solidFill>
                <a:latin typeface="Aptos"/>
              </a:rPr>
              <a:t>Compare measured values ↔ Estimate effects and interactions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270248" y="5020056"/>
            <a:ext cx="3666744" cy="6675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C7DB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61688" y="5065776"/>
            <a:ext cx="118872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53964"/>
                </a:solidFill>
                <a:latin typeface="Aptos"/>
              </a:rPr>
              <a:t>WINNER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86983" y="5047488"/>
            <a:ext cx="365760" cy="256032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285B91"/>
                </a:solidFill>
                <a:latin typeface="Aptos"/>
              </a:rPr>
              <a:t>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71031" y="5065776"/>
            <a:ext cx="1783080" cy="21945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1" i="0">
                <a:solidFill>
                  <a:srgbClr val="153964"/>
                </a:solidFill>
                <a:latin typeface="Aptos"/>
              </a:rPr>
              <a:t>OPTIMUM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5312664"/>
            <a:ext cx="3520440" cy="28346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19" b="0" i="0">
                <a:solidFill>
                  <a:srgbClr val="4D677F"/>
                </a:solidFill>
                <a:latin typeface="Aptos"/>
              </a:rPr>
              <a:t>Best product for the test ↔ Best settings for the objective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29016" y="1517904"/>
            <a:ext cx="3886200" cy="530352"/>
          </a:xfrm>
          <a:prstGeom prst="roundRect">
            <a:avLst>
              <a:gd name="adj" fmla="val 8000"/>
            </a:avLst>
          </a:prstGeom>
          <a:solidFill>
            <a:srgbClr val="0F3053"/>
          </a:solidFill>
          <a:ln>
            <a:solidFill>
              <a:srgbClr val="0F30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220456" y="1545336"/>
            <a:ext cx="3703320" cy="274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Design of Experiments (DoE)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0456" y="1801368"/>
            <a:ext cx="370332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Aptos"/>
              </a:rPr>
              <a:t>Statistical methodology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93608" y="2103120"/>
            <a:ext cx="141732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53964"/>
                </a:solidFill>
                <a:latin typeface="Aptos"/>
              </a:rPr>
              <a:t>Example test matrix</a:t>
            </a:r>
          </a:p>
        </p:txBody>
      </p:sp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8293608" y="2340864"/>
          <a:ext cx="1600200" cy="960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566928"/>
                <a:gridCol w="621792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ptos"/>
                        </a:rPr>
                        <a:t>Run</a:t>
                      </a:r>
                    </a:p>
                  </a:txBody>
                  <a:tcPr marL="22860" marR="22860" marT="13716" marB="13716">
                    <a:solidFill>
                      <a:srgbClr val="15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ptos"/>
                        </a:rPr>
                        <a:t>Factor A</a:t>
                      </a:r>
                    </a:p>
                  </a:txBody>
                  <a:tcPr marL="22860" marR="22860" marT="13716" marB="13716">
                    <a:solidFill>
                      <a:srgbClr val="1539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ptos"/>
                        </a:rPr>
                        <a:t>Result</a:t>
                      </a:r>
                    </a:p>
                  </a:txBody>
                  <a:tcPr marL="22860" marR="22860" marT="13716" marB="13716">
                    <a:solidFill>
                      <a:srgbClr val="153964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83A5B"/>
                          </a:solidFill>
                          <a:latin typeface="Aptos"/>
                        </a:rPr>
                        <a:t>1</a:t>
                      </a:r>
                    </a:p>
                  </a:txBody>
                  <a:tcPr marL="22860" marR="22860" marT="13716" marB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83A5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22860" marR="22860" marT="13716" marB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83A5B"/>
                          </a:solidFill>
                          <a:latin typeface="Aptos"/>
                        </a:rPr>
                        <a:t>42</a:t>
                      </a:r>
                    </a:p>
                  </a:txBody>
                  <a:tcPr marL="22860" marR="22860" marT="13716" marB="13716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83A5B"/>
                          </a:solidFill>
                          <a:latin typeface="Aptos"/>
                        </a:rPr>
                        <a:t>2</a:t>
                      </a:r>
                    </a:p>
                  </a:txBody>
                  <a:tcPr marL="22860" marR="22860" marT="13716" marB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83A5B"/>
                          </a:solidFill>
                          <a:latin typeface="Aptos"/>
                        </a:rPr>
                        <a:t>High</a:t>
                      </a:r>
                    </a:p>
                  </a:txBody>
                  <a:tcPr marL="22860" marR="22860" marT="13716" marB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83A5B"/>
                          </a:solidFill>
                          <a:latin typeface="Aptos"/>
                        </a:rPr>
                        <a:t>68</a:t>
                      </a:r>
                    </a:p>
                  </a:txBody>
                  <a:tcPr marL="22860" marR="22860" marT="13716" marB="13716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83A5B"/>
                          </a:solidFill>
                          <a:latin typeface="Aptos"/>
                        </a:rPr>
                        <a:t>3</a:t>
                      </a:r>
                    </a:p>
                  </a:txBody>
                  <a:tcPr marL="22860" marR="22860" marT="13716" marB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83A5B"/>
                          </a:solidFill>
                          <a:latin typeface="Aptos"/>
                        </a:rPr>
                        <a:t>High</a:t>
                      </a:r>
                    </a:p>
                  </a:txBody>
                  <a:tcPr marL="22860" marR="22860" marT="13716" marB="1371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183A5B"/>
                          </a:solidFill>
                          <a:latin typeface="Aptos"/>
                        </a:rPr>
                        <a:t>82</a:t>
                      </a:r>
                    </a:p>
                  </a:txBody>
                  <a:tcPr marL="22860" marR="22860" marT="13716" marB="1371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TextBox 61"/>
          <p:cNvSpPr txBox="1"/>
          <p:nvPr/>
        </p:nvSpPr>
        <p:spPr>
          <a:xfrm>
            <a:off x="10012680" y="2103120"/>
            <a:ext cx="1783080" cy="2286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153964"/>
                </a:solidFill>
                <a:latin typeface="Aptos"/>
              </a:rPr>
              <a:t>Factors → response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10158984" y="2450592"/>
            <a:ext cx="0" cy="768096"/>
          </a:xfrm>
          <a:prstGeom prst="line">
            <a:avLst/>
          </a:prstGeom>
          <a:ln>
            <a:solidFill>
              <a:srgbClr val="285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158984" y="3218688"/>
            <a:ext cx="1581912" cy="0"/>
          </a:xfrm>
          <a:prstGeom prst="line">
            <a:avLst/>
          </a:prstGeom>
          <a:ln>
            <a:solidFill>
              <a:srgbClr val="285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10277856" y="2944368"/>
            <a:ext cx="365760" cy="128016"/>
          </a:xfrm>
          <a:prstGeom prst="line">
            <a:avLst/>
          </a:prstGeom>
          <a:ln w="31750">
            <a:solidFill>
              <a:srgbClr val="249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0643616" y="2788920"/>
            <a:ext cx="338328" cy="155448"/>
          </a:xfrm>
          <a:prstGeom prst="line">
            <a:avLst/>
          </a:prstGeom>
          <a:ln w="31750">
            <a:solidFill>
              <a:srgbClr val="249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0981944" y="2542032"/>
            <a:ext cx="393192" cy="246888"/>
          </a:xfrm>
          <a:prstGeom prst="line">
            <a:avLst/>
          </a:prstGeom>
          <a:ln w="31750">
            <a:solidFill>
              <a:srgbClr val="249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11375136" y="2542032"/>
            <a:ext cx="292608" cy="45720"/>
          </a:xfrm>
          <a:prstGeom prst="line">
            <a:avLst/>
          </a:prstGeom>
          <a:ln w="31750">
            <a:solidFill>
              <a:srgbClr val="24965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10245852" y="3040379"/>
            <a:ext cx="64008" cy="64008"/>
          </a:xfrm>
          <a:prstGeom prst="ellipse">
            <a:avLst/>
          </a:prstGeom>
          <a:solidFill>
            <a:srgbClr val="249653"/>
          </a:solidFill>
          <a:ln>
            <a:solidFill>
              <a:srgbClr val="249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0611612" y="2912364"/>
            <a:ext cx="64008" cy="64008"/>
          </a:xfrm>
          <a:prstGeom prst="ellipse">
            <a:avLst/>
          </a:prstGeom>
          <a:solidFill>
            <a:srgbClr val="249653"/>
          </a:solidFill>
          <a:ln>
            <a:solidFill>
              <a:srgbClr val="249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0949940" y="2756915"/>
            <a:ext cx="64008" cy="64008"/>
          </a:xfrm>
          <a:prstGeom prst="ellipse">
            <a:avLst/>
          </a:prstGeom>
          <a:solidFill>
            <a:srgbClr val="249653"/>
          </a:solidFill>
          <a:ln>
            <a:solidFill>
              <a:srgbClr val="249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11343132" y="2510027"/>
            <a:ext cx="64008" cy="64008"/>
          </a:xfrm>
          <a:prstGeom prst="ellipse">
            <a:avLst/>
          </a:prstGeom>
          <a:solidFill>
            <a:srgbClr val="249653"/>
          </a:solidFill>
          <a:ln>
            <a:solidFill>
              <a:srgbClr val="249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11635740" y="2555748"/>
            <a:ext cx="64008" cy="64008"/>
          </a:xfrm>
          <a:prstGeom prst="ellipse">
            <a:avLst/>
          </a:prstGeom>
          <a:solidFill>
            <a:srgbClr val="249653"/>
          </a:solidFill>
          <a:ln>
            <a:solidFill>
              <a:srgbClr val="249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13848" y="3227832"/>
            <a:ext cx="150876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0" i="1">
                <a:solidFill>
                  <a:srgbClr val="4D677F"/>
                </a:solidFill>
                <a:latin typeface="Aptos"/>
              </a:rPr>
              <a:t>Illustrative only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293608" y="3502152"/>
            <a:ext cx="3557016" cy="24688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53964"/>
                </a:solidFill>
                <a:latin typeface="Aptos"/>
              </a:rPr>
              <a:t>What DoE Adds</a:t>
            </a:r>
          </a:p>
        </p:txBody>
      </p:sp>
      <p:sp>
        <p:nvSpPr>
          <p:cNvPr id="76" name="Oval 75"/>
          <p:cNvSpPr/>
          <p:nvPr/>
        </p:nvSpPr>
        <p:spPr>
          <a:xfrm>
            <a:off x="8275320" y="3799332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75320" y="3794759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95360" y="3776472"/>
            <a:ext cx="3273552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 i="0">
                <a:solidFill>
                  <a:srgbClr val="183A5B"/>
                </a:solidFill>
                <a:latin typeface="Aptos"/>
              </a:rPr>
              <a:t>Selects factors and levels to investigate</a:t>
            </a:r>
          </a:p>
        </p:txBody>
      </p:sp>
      <p:sp>
        <p:nvSpPr>
          <p:cNvPr id="79" name="Oval 78"/>
          <p:cNvSpPr/>
          <p:nvPr/>
        </p:nvSpPr>
        <p:spPr>
          <a:xfrm>
            <a:off x="8275320" y="4192524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75320" y="4187951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95360" y="4169663"/>
            <a:ext cx="3273552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 i="0">
                <a:solidFill>
                  <a:srgbClr val="183A5B"/>
                </a:solidFill>
                <a:latin typeface="Aptos"/>
              </a:rPr>
              <a:t>Chooses an efficient test design</a:t>
            </a:r>
          </a:p>
        </p:txBody>
      </p:sp>
      <p:sp>
        <p:nvSpPr>
          <p:cNvPr id="82" name="Oval 81"/>
          <p:cNvSpPr/>
          <p:nvPr/>
        </p:nvSpPr>
        <p:spPr>
          <a:xfrm>
            <a:off x="8275320" y="4585716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75320" y="4581143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595360" y="4562855"/>
            <a:ext cx="3273552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 i="0">
                <a:solidFill>
                  <a:srgbClr val="183A5B"/>
                </a:solidFill>
                <a:latin typeface="Aptos"/>
              </a:rPr>
              <a:t>Controls or records experimental conditions</a:t>
            </a:r>
          </a:p>
        </p:txBody>
      </p:sp>
      <p:sp>
        <p:nvSpPr>
          <p:cNvPr id="85" name="Oval 84"/>
          <p:cNvSpPr/>
          <p:nvPr/>
        </p:nvSpPr>
        <p:spPr>
          <a:xfrm>
            <a:off x="8275320" y="4978907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75320" y="4974335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95360" y="4956047"/>
            <a:ext cx="3273552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 i="0">
                <a:solidFill>
                  <a:srgbClr val="183A5B"/>
                </a:solidFill>
                <a:latin typeface="Aptos"/>
              </a:rPr>
              <a:t>Analyzes effects, interactions, and uncertainty</a:t>
            </a:r>
          </a:p>
        </p:txBody>
      </p:sp>
      <p:sp>
        <p:nvSpPr>
          <p:cNvPr id="88" name="Oval 87"/>
          <p:cNvSpPr/>
          <p:nvPr/>
        </p:nvSpPr>
        <p:spPr>
          <a:xfrm>
            <a:off x="8275320" y="5372099"/>
            <a:ext cx="246888" cy="246888"/>
          </a:xfrm>
          <a:prstGeom prst="ellipse">
            <a:avLst/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75320" y="5367527"/>
            <a:ext cx="246888" cy="246888"/>
          </a:xfrm>
          <a:prstGeom prst="rect">
            <a:avLst/>
          </a:prstGeom>
          <a:noFill/>
        </p:spPr>
        <p:txBody>
          <a:bodyPr wrap="square" lIns="0" rIns="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595360" y="5349239"/>
            <a:ext cx="3273552" cy="329184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10" b="0" i="0">
                <a:solidFill>
                  <a:srgbClr val="183A5B"/>
                </a:solidFill>
                <a:latin typeface="Aptos"/>
              </a:rPr>
              <a:t>Quantifies confidence in conclusions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64592" y="6108192"/>
            <a:ext cx="11859768" cy="585216"/>
          </a:xfrm>
          <a:prstGeom prst="roundRect">
            <a:avLst>
              <a:gd name="adj" fmla="val 8000"/>
            </a:avLst>
          </a:prstGeom>
          <a:solidFill>
            <a:srgbClr val="153964"/>
          </a:solidFill>
          <a:ln>
            <a:solidFill>
              <a:srgbClr val="1539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84048" y="6181344"/>
            <a:ext cx="1463040" cy="384048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ptos"/>
              </a:rPr>
              <a:t>BOTTOM LINE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920240" y="6144768"/>
            <a:ext cx="9784080" cy="31089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ptos"/>
              </a:rPr>
              <a:t>Project Farm is a practical illustration of experimental thinking: compare options, measure outcomes, and decide from evidence.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920240" y="6428232"/>
            <a:ext cx="9784080" cy="1828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FFFFFF"/>
                </a:solidFill>
                <a:latin typeface="Aptos"/>
              </a:rPr>
              <a:t>Different tools. Same principles. Better decisions.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